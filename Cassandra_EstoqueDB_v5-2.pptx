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Capa — apresentar o grupo e o banco sorteado: Apache Cassandra, G9.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Grupo — apresentar cada integrante.</a:t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que é — falar de forma simples: não é SQL, criado pelo Facebook, rápido e sem ponto único de falha.</a:t>
            </a:r>
            <a:endParaRPr/>
          </a:p>
        </p:txBody>
      </p:sp>
      <p:sp>
        <p:nvSpPr>
          <p:cNvPr id="60" name="Google Shape;6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Como os dados são armazenados — SQL tem NULL em todo lado, Cassandra só guarda o que existe.</a:t>
            </a:r>
            <a:endParaRPr/>
          </a:p>
        </p:txBody>
      </p:sp>
      <p:sp>
        <p:nvSpPr>
          <p:cNvPr id="83" name="Google Shape;8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Tipo Colunar — planilha onde cada linha pode ter colunas diferentes.</a:t>
            </a:r>
            <a:endParaRPr/>
          </a:p>
        </p:txBody>
      </p:sp>
      <p:sp>
        <p:nvSpPr>
          <p:cNvPr id="170" name="Google Shape;17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Cassandra vs MongoDB — dois NoSQL populares com propostas diferentes. Cassandra escolhido pela escrita rápida e alta disponibilidade.</a:t>
            </a:r>
            <a:endParaRPr/>
          </a:p>
        </p:txBody>
      </p:sp>
      <p:sp>
        <p:nvSpPr>
          <p:cNvPr id="235" name="Google Shape;23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Teorema CAP — Cassandra escolhe A + P.</a:t>
            </a:r>
            <a:endParaRPr/>
          </a:p>
        </p:txBody>
      </p:sp>
      <p:sp>
        <p:nvSpPr>
          <p:cNvPr id="289" name="Google Shape;28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Casos de uso — empresas grandes usam. Bom pra / cuidado com.</a:t>
            </a:r>
            <a:endParaRPr/>
          </a:p>
        </p:txBody>
      </p:sp>
      <p:sp>
        <p:nvSpPr>
          <p:cNvPr id="312" name="Google Shape;31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Nosso Projeto — 6 tabelas, 1 keyspace, 5 consultas. Mostrar as tabelas.</a:t>
            </a:r>
            <a:endParaRPr/>
          </a:p>
        </p:txBody>
      </p:sp>
      <p:sp>
        <p:nvSpPr>
          <p:cNvPr id="338" name="Google Shape;33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Como rodar — mostrar docker compose up -d na demo.</a:t>
            </a:r>
            <a:endParaRPr/>
          </a:p>
        </p:txBody>
      </p:sp>
      <p:sp>
        <p:nvSpPr>
          <p:cNvPr id="376" name="Google Shape;37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 AO VIVO — Docker, CRUD de produto, consulta 1 e consulta 2.</a:t>
            </a:r>
            <a:endParaRPr/>
          </a:p>
        </p:txBody>
      </p:sp>
      <p:sp>
        <p:nvSpPr>
          <p:cNvPr id="418" name="Google Shape;41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B3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2563EB">
              <a:alpha val="20000"/>
            </a:srgbClr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548640" y="82296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BANCO DE DADOS NÃO RELACIONAIS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48640" y="1280160"/>
            <a:ext cx="7315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Apache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Cassandra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48640" y="324612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A0B8D0"/>
                </a:solidFill>
                <a:latin typeface="Calibri"/>
                <a:ea typeface="Calibri"/>
                <a:cs typeface="Calibri"/>
                <a:sym typeface="Calibri"/>
              </a:rPr>
              <a:t>Sistema de Gestão de Estoque — EstoqueDB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48640" y="3794760"/>
            <a:ext cx="1645920" cy="36576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548640" y="39776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Grupo 9  ·  17 de Junho de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B3C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7132320" y="-731520"/>
            <a:ext cx="3657600" cy="3657600"/>
          </a:xfrm>
          <a:prstGeom prst="ellipse">
            <a:avLst/>
          </a:prstGeom>
          <a:solidFill>
            <a:srgbClr val="F97316">
              <a:alpha val="12156"/>
            </a:srgbClr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548640" y="292608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GRUPO 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548640" y="694944"/>
            <a:ext cx="6400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Nossa equipe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48640" y="1335024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0B8D0"/>
                </a:solidFill>
                <a:latin typeface="Calibri"/>
                <a:ea typeface="Calibri"/>
                <a:cs typeface="Calibri"/>
                <a:sym typeface="Calibri"/>
              </a:rPr>
              <a:t>Apache Cassandra  ·  Banco de Dados Não Relacionais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548640" y="1874520"/>
            <a:ext cx="7772400" cy="512064"/>
          </a:xfrm>
          <a:prstGeom prst="roundRect">
            <a:avLst>
              <a:gd fmla="val 17857" name="adj"/>
            </a:avLst>
          </a:prstGeom>
          <a:solidFill>
            <a:srgbClr val="1E3A5F"/>
          </a:solidFill>
          <a:ln cap="flat" cmpd="sng" w="9525">
            <a:solidFill>
              <a:srgbClr val="2D5A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713232" y="1929384"/>
            <a:ext cx="402336" cy="402336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713232" y="1938528"/>
            <a:ext cx="40233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1207008" y="1984248"/>
            <a:ext cx="320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1536192" y="1984248"/>
            <a:ext cx="6583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Fernanda Rebelatto Miranda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48640" y="2478024"/>
            <a:ext cx="7772400" cy="512064"/>
          </a:xfrm>
          <a:prstGeom prst="roundRect">
            <a:avLst>
              <a:gd fmla="val 17857" name="adj"/>
            </a:avLst>
          </a:prstGeom>
          <a:solidFill>
            <a:srgbClr val="1E3A5F"/>
          </a:solidFill>
          <a:ln cap="flat" cmpd="sng" w="9525">
            <a:solidFill>
              <a:srgbClr val="2D5A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713232" y="2532888"/>
            <a:ext cx="402336" cy="402336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713232" y="2542032"/>
            <a:ext cx="40233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207008" y="2587752"/>
            <a:ext cx="320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536192" y="2587752"/>
            <a:ext cx="6583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Gabriel do Nascimento Rodrigues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548640" y="3081528"/>
            <a:ext cx="7772400" cy="512064"/>
          </a:xfrm>
          <a:prstGeom prst="roundRect">
            <a:avLst>
              <a:gd fmla="val 17857" name="adj"/>
            </a:avLst>
          </a:prstGeom>
          <a:solidFill>
            <a:srgbClr val="1E3A5F"/>
          </a:solidFill>
          <a:ln cap="flat" cmpd="sng" w="9525">
            <a:solidFill>
              <a:srgbClr val="2D5A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713232" y="3136392"/>
            <a:ext cx="402336" cy="402336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713232" y="3145536"/>
            <a:ext cx="40233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207008" y="3191256"/>
            <a:ext cx="320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536192" y="3191256"/>
            <a:ext cx="6583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Guilherme Guerra de Paulo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548640" y="3685032"/>
            <a:ext cx="7772400" cy="512064"/>
          </a:xfrm>
          <a:prstGeom prst="roundRect">
            <a:avLst>
              <a:gd fmla="val 17857" name="adj"/>
            </a:avLst>
          </a:prstGeom>
          <a:solidFill>
            <a:srgbClr val="1E3A5F"/>
          </a:solidFill>
          <a:ln cap="flat" cmpd="sng" w="9525">
            <a:solidFill>
              <a:srgbClr val="2D5A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713232" y="3739896"/>
            <a:ext cx="402336" cy="402336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713232" y="3749040"/>
            <a:ext cx="40233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JV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207008" y="3794760"/>
            <a:ext cx="320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4.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536192" y="3794760"/>
            <a:ext cx="6583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João Vitor Ferreira da Silva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548640" y="4288536"/>
            <a:ext cx="7772400" cy="512064"/>
          </a:xfrm>
          <a:prstGeom prst="roundRect">
            <a:avLst>
              <a:gd fmla="val 17857" name="adj"/>
            </a:avLst>
          </a:prstGeom>
          <a:solidFill>
            <a:srgbClr val="1E3A5F"/>
          </a:solidFill>
          <a:ln cap="flat" cmpd="sng" w="9525">
            <a:solidFill>
              <a:srgbClr val="2D5A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713232" y="4343400"/>
            <a:ext cx="402336" cy="402336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713232" y="4352544"/>
            <a:ext cx="40233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1207008" y="4398264"/>
            <a:ext cx="320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5.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1536192" y="4398264"/>
            <a:ext cx="6583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Rodrigo Barreiros Moreira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 / 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2B3C"/>
                </a:solidFill>
                <a:latin typeface="Cambria"/>
                <a:ea typeface="Cambria"/>
                <a:cs typeface="Cambria"/>
                <a:sym typeface="Cambria"/>
              </a:rPr>
              <a:t>O que é Apache Cassandra?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640080" y="14173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🗄️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1325880" y="1325880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Banco de Dados NoSQL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1325880" y="1709928"/>
            <a:ext cx="30175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Não usa tabelas como o SQL.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Guarda dados em colunas largas.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4754880" y="1143000"/>
            <a:ext cx="4023360" cy="150876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4937760" y="14173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🌐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5623560" y="1325880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Criado pelo Facebook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5623560" y="1709928"/>
            <a:ext cx="30175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Surgiu em 2008 para aguentar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bilhões de mensagens por dia.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640080" y="31089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1325880" y="3017520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Muito rápido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325880" y="3401568"/>
            <a:ext cx="30175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Lê e escreve dados 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milissegundos, mesmo com TBs.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4754880" y="2834640"/>
            <a:ext cx="4023360" cy="150876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4937760" y="31089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🔗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5623560" y="3017520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Sem chefe único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623560" y="3401568"/>
            <a:ext cx="30175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Vários servidores trabalham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juntos — se um cair, funciona.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 / 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B3C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Como o Cassandra armazena os dados?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457200" y="85039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0B8D0"/>
                </a:solidFill>
                <a:latin typeface="Calibri"/>
                <a:ea typeface="Calibri"/>
                <a:cs typeface="Calibri"/>
                <a:sym typeface="Calibri"/>
              </a:rPr>
              <a:t>Diferente do SQL — cada linha pode ter colunas diferentes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457200" y="1261872"/>
            <a:ext cx="3931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🔲  SQL tradicional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457200" y="1664208"/>
            <a:ext cx="384048" cy="310896"/>
          </a:xfrm>
          <a:prstGeom prst="rect">
            <a:avLst/>
          </a:prstGeom>
          <a:solidFill>
            <a:srgbClr val="374151"/>
          </a:solidFill>
          <a:ln cap="flat" cmpd="sng" w="9525">
            <a:solidFill>
              <a:srgbClr val="4B5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493776" y="1700784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id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868680" y="1664208"/>
            <a:ext cx="795528" cy="310896"/>
          </a:xfrm>
          <a:prstGeom prst="rect">
            <a:avLst/>
          </a:prstGeom>
          <a:solidFill>
            <a:srgbClr val="374151"/>
          </a:solidFill>
          <a:ln cap="flat" cmpd="sng" w="9525">
            <a:solidFill>
              <a:srgbClr val="4B5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905256" y="1700784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nome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1691640" y="1664208"/>
            <a:ext cx="539496" cy="310896"/>
          </a:xfrm>
          <a:prstGeom prst="rect">
            <a:avLst/>
          </a:prstGeom>
          <a:solidFill>
            <a:srgbClr val="374151"/>
          </a:solidFill>
          <a:ln cap="flat" cmpd="sng" w="9525">
            <a:solidFill>
              <a:srgbClr val="4B5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1728216" y="1700784"/>
            <a:ext cx="4754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cor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2258568" y="1664208"/>
            <a:ext cx="667512" cy="310896"/>
          </a:xfrm>
          <a:prstGeom prst="rect">
            <a:avLst/>
          </a:prstGeom>
          <a:solidFill>
            <a:srgbClr val="374151"/>
          </a:solidFill>
          <a:ln cap="flat" cmpd="sng" w="9525">
            <a:solidFill>
              <a:srgbClr val="4B5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2295144" y="1700784"/>
            <a:ext cx="60350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voltagem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2953512" y="1664208"/>
            <a:ext cx="630936" cy="310896"/>
          </a:xfrm>
          <a:prstGeom prst="rect">
            <a:avLst/>
          </a:prstGeom>
          <a:solidFill>
            <a:srgbClr val="374151"/>
          </a:solidFill>
          <a:ln cap="flat" cmpd="sng" w="9525">
            <a:solidFill>
              <a:srgbClr val="4B5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2990088" y="1700784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validade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457200" y="2011680"/>
            <a:ext cx="384048" cy="310896"/>
          </a:xfrm>
          <a:prstGeom prst="rect">
            <a:avLst/>
          </a:prstGeom>
          <a:solidFill>
            <a:srgbClr val="263347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493776" y="2066544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868680" y="2011680"/>
            <a:ext cx="795528" cy="310896"/>
          </a:xfrm>
          <a:prstGeom prst="rect">
            <a:avLst/>
          </a:prstGeom>
          <a:solidFill>
            <a:srgbClr val="263347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905256" y="2066544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Notebook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1691640" y="2011680"/>
            <a:ext cx="539496" cy="310896"/>
          </a:xfrm>
          <a:prstGeom prst="rect">
            <a:avLst/>
          </a:prstGeom>
          <a:solidFill>
            <a:srgbClr val="263347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1728216" y="2066544"/>
            <a:ext cx="47548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2258568" y="2011680"/>
            <a:ext cx="667512" cy="310896"/>
          </a:xfrm>
          <a:prstGeom prst="rect">
            <a:avLst/>
          </a:prstGeom>
          <a:solidFill>
            <a:srgbClr val="1F2937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2295144" y="2066544"/>
            <a:ext cx="6035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2953512" y="2011680"/>
            <a:ext cx="630936" cy="310896"/>
          </a:xfrm>
          <a:prstGeom prst="rect">
            <a:avLst/>
          </a:prstGeom>
          <a:solidFill>
            <a:srgbClr val="1F2937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2990088" y="2066544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457200" y="2359152"/>
            <a:ext cx="384048" cy="310896"/>
          </a:xfrm>
          <a:prstGeom prst="rect">
            <a:avLst/>
          </a:prstGeom>
          <a:solidFill>
            <a:srgbClr val="1E3A5F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493776" y="2414016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002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868680" y="2359152"/>
            <a:ext cx="795528" cy="310896"/>
          </a:xfrm>
          <a:prstGeom prst="rect">
            <a:avLst/>
          </a:prstGeom>
          <a:solidFill>
            <a:srgbClr val="1E3A5F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905256" y="2414016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1691640" y="2359152"/>
            <a:ext cx="539496" cy="310896"/>
          </a:xfrm>
          <a:prstGeom prst="rect">
            <a:avLst/>
          </a:prstGeom>
          <a:solidFill>
            <a:srgbClr val="1E3A5F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1728216" y="2414016"/>
            <a:ext cx="47548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Preto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2258568" y="2359152"/>
            <a:ext cx="667512" cy="310896"/>
          </a:xfrm>
          <a:prstGeom prst="rect">
            <a:avLst/>
          </a:prstGeom>
          <a:solidFill>
            <a:srgbClr val="1F2937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2295144" y="2414016"/>
            <a:ext cx="6035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2953512" y="2359152"/>
            <a:ext cx="630936" cy="310896"/>
          </a:xfrm>
          <a:prstGeom prst="rect">
            <a:avLst/>
          </a:prstGeom>
          <a:solidFill>
            <a:srgbClr val="1F2937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2990088" y="2414016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457200" y="2706624"/>
            <a:ext cx="384048" cy="310896"/>
          </a:xfrm>
          <a:prstGeom prst="rect">
            <a:avLst/>
          </a:prstGeom>
          <a:solidFill>
            <a:srgbClr val="263347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493776" y="2761488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003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868680" y="2706624"/>
            <a:ext cx="795528" cy="310896"/>
          </a:xfrm>
          <a:prstGeom prst="rect">
            <a:avLst/>
          </a:prstGeom>
          <a:solidFill>
            <a:srgbClr val="263347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905256" y="2761488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Iogurte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1691640" y="2706624"/>
            <a:ext cx="539496" cy="310896"/>
          </a:xfrm>
          <a:prstGeom prst="rect">
            <a:avLst/>
          </a:prstGeom>
          <a:solidFill>
            <a:srgbClr val="1F2937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1728216" y="2761488"/>
            <a:ext cx="47548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2258568" y="2706624"/>
            <a:ext cx="667512" cy="310896"/>
          </a:xfrm>
          <a:prstGeom prst="rect">
            <a:avLst/>
          </a:prstGeom>
          <a:solidFill>
            <a:srgbClr val="1F2937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2295144" y="2761488"/>
            <a:ext cx="6035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2953512" y="2706624"/>
            <a:ext cx="630936" cy="310896"/>
          </a:xfrm>
          <a:prstGeom prst="rect">
            <a:avLst/>
          </a:prstGeom>
          <a:solidFill>
            <a:srgbClr val="263347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2990088" y="2761488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2025-12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457200" y="3054096"/>
            <a:ext cx="384048" cy="310896"/>
          </a:xfrm>
          <a:prstGeom prst="rect">
            <a:avLst/>
          </a:prstGeom>
          <a:solidFill>
            <a:srgbClr val="1E3A5F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493776" y="3108960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004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868680" y="3054096"/>
            <a:ext cx="795528" cy="310896"/>
          </a:xfrm>
          <a:prstGeom prst="rect">
            <a:avLst/>
          </a:prstGeom>
          <a:solidFill>
            <a:srgbClr val="1E3A5F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905256" y="3108960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Carregador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1691640" y="3054096"/>
            <a:ext cx="539496" cy="310896"/>
          </a:xfrm>
          <a:prstGeom prst="rect">
            <a:avLst/>
          </a:prstGeom>
          <a:solidFill>
            <a:srgbClr val="1E3A5F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1728216" y="3108960"/>
            <a:ext cx="47548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Branco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2258568" y="3054096"/>
            <a:ext cx="667512" cy="310896"/>
          </a:xfrm>
          <a:prstGeom prst="rect">
            <a:avLst/>
          </a:prstGeom>
          <a:solidFill>
            <a:srgbClr val="1E3A5F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2295144" y="3108960"/>
            <a:ext cx="6035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110V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2953512" y="3054096"/>
            <a:ext cx="630936" cy="310896"/>
          </a:xfrm>
          <a:prstGeom prst="rect">
            <a:avLst/>
          </a:prstGeom>
          <a:solidFill>
            <a:srgbClr val="1F2937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2990088" y="3108960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457200" y="3438144"/>
            <a:ext cx="3931920" cy="384048"/>
          </a:xfrm>
          <a:prstGeom prst="roundRect">
            <a:avLst>
              <a:gd fmla="val 16667" name="adj"/>
            </a:avLst>
          </a:prstGeom>
          <a:solidFill>
            <a:srgbClr val="1F2937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594360" y="350215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⚠️  NULLs ocupam espaço mesmo sem dado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4754880" y="1261872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✅  Cassandra (colunar)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4754880" y="1664208"/>
            <a:ext cx="1481328" cy="310896"/>
          </a:xfrm>
          <a:prstGeom prst="roundRect">
            <a:avLst>
              <a:gd fmla="val 17647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4791456" y="1709928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001  Notebook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6309360" y="1664208"/>
            <a:ext cx="1042416" cy="310896"/>
          </a:xfrm>
          <a:prstGeom prst="roundRect">
            <a:avLst>
              <a:gd fmla="val 17647" name="adj"/>
            </a:avLst>
          </a:prstGeom>
          <a:solidFill>
            <a:srgbClr val="1E3A5F"/>
          </a:solidFill>
          <a:ln cap="flat" cmpd="sng" w="101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6364224" y="1682496"/>
            <a:ext cx="9326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cor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Prata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4754880" y="2432304"/>
            <a:ext cx="1481328" cy="310896"/>
          </a:xfrm>
          <a:prstGeom prst="roundRect">
            <a:avLst>
              <a:gd fmla="val 17647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4791456" y="2478024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002  Fone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6309360" y="2432304"/>
            <a:ext cx="1042416" cy="310896"/>
          </a:xfrm>
          <a:prstGeom prst="roundRect">
            <a:avLst>
              <a:gd fmla="val 17647" name="adj"/>
            </a:avLst>
          </a:prstGeom>
          <a:solidFill>
            <a:srgbClr val="1E3A5F"/>
          </a:solidFill>
          <a:ln cap="flat" cmpd="sng" w="101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6364224" y="2450592"/>
            <a:ext cx="9326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cor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Preto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4754880" y="3200400"/>
            <a:ext cx="1481328" cy="310896"/>
          </a:xfrm>
          <a:prstGeom prst="roundRect">
            <a:avLst>
              <a:gd fmla="val 17647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4791456" y="3246120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003  Iogurte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6309360" y="3200400"/>
            <a:ext cx="1042416" cy="310896"/>
          </a:xfrm>
          <a:prstGeom prst="roundRect">
            <a:avLst>
              <a:gd fmla="val 17647" name="adj"/>
            </a:avLst>
          </a:prstGeom>
          <a:solidFill>
            <a:srgbClr val="1E3A5F"/>
          </a:solidFill>
          <a:ln cap="flat" cmpd="sng" w="101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6364224" y="3218688"/>
            <a:ext cx="9326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validade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2025-12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4754880" y="3968496"/>
            <a:ext cx="1481328" cy="310896"/>
          </a:xfrm>
          <a:prstGeom prst="roundRect">
            <a:avLst>
              <a:gd fmla="val 17647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4791456" y="4014216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004  Carregador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6309360" y="3968496"/>
            <a:ext cx="1042416" cy="310896"/>
          </a:xfrm>
          <a:prstGeom prst="roundRect">
            <a:avLst>
              <a:gd fmla="val 17647" name="adj"/>
            </a:avLst>
          </a:prstGeom>
          <a:solidFill>
            <a:srgbClr val="1E3A5F"/>
          </a:solidFill>
          <a:ln cap="flat" cmpd="sng" w="101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6364224" y="3986784"/>
            <a:ext cx="9326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cor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Branco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7424928" y="3968496"/>
            <a:ext cx="1042416" cy="310896"/>
          </a:xfrm>
          <a:prstGeom prst="roundRect">
            <a:avLst>
              <a:gd fmla="val 17647" name="adj"/>
            </a:avLst>
          </a:prstGeom>
          <a:solidFill>
            <a:srgbClr val="1E3A5F"/>
          </a:solidFill>
          <a:ln cap="flat" cmpd="sng" w="101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7479792" y="3986784"/>
            <a:ext cx="9326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voltagem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110V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4754880" y="3438144"/>
            <a:ext cx="3931920" cy="384048"/>
          </a:xfrm>
          <a:prstGeom prst="roundRect">
            <a:avLst>
              <a:gd fmla="val 16667" name="adj"/>
            </a:avLst>
          </a:prstGeom>
          <a:solidFill>
            <a:srgbClr val="1E3A5F"/>
          </a:solidFill>
          <a:ln cap="flat" cmpd="sng" w="952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4892040" y="350215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✅  Só guarda o que existe — sem espaço desperdiçado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457200" y="3931920"/>
            <a:ext cx="8229600" cy="868680"/>
          </a:xfrm>
          <a:prstGeom prst="roundRect">
            <a:avLst>
              <a:gd fmla="val 10526" name="adj"/>
            </a:avLst>
          </a:prstGeom>
          <a:solidFill>
            <a:srgbClr val="162032"/>
          </a:solidFill>
          <a:ln cap="flat" cmpd="sng" w="9525">
            <a:solidFill>
              <a:srgbClr val="2D5A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640080" y="402336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Chave de partição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640080" y="4297680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B8D0"/>
                </a:solidFill>
                <a:latin typeface="Calibri"/>
                <a:ea typeface="Calibri"/>
                <a:cs typeface="Calibri"/>
                <a:sym typeface="Calibri"/>
              </a:rPr>
              <a:t>Define em qual servidor o dado fica guardado.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B8D0"/>
                </a:solidFill>
                <a:latin typeface="Calibri"/>
                <a:ea typeface="Calibri"/>
                <a:cs typeface="Calibri"/>
                <a:sym typeface="Calibri"/>
              </a:rPr>
              <a:t>É como o endereço da linha dentro do banco.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4480560" y="402336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Colunas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4480560" y="4297680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B8D0"/>
                </a:solidFill>
                <a:latin typeface="Calibri"/>
                <a:ea typeface="Calibri"/>
                <a:cs typeface="Calibri"/>
                <a:sym typeface="Calibri"/>
              </a:rPr>
              <a:t>Só existem se tiverem valor.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B8D0"/>
                </a:solidFill>
                <a:latin typeface="Calibri"/>
                <a:ea typeface="Calibri"/>
                <a:cs typeface="Calibri"/>
                <a:sym typeface="Calibri"/>
              </a:rPr>
              <a:t>Cada linha pode ter combinações diferentes.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4 / 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A2B3C"/>
                </a:solidFill>
                <a:latin typeface="Cambria"/>
                <a:ea typeface="Cambria"/>
                <a:cs typeface="Cambria"/>
                <a:sym typeface="Cambria"/>
              </a:rPr>
              <a:t>Tipo: Banco Colunar (Wide-Column)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457200" y="1005840"/>
            <a:ext cx="3931920" cy="3794760"/>
          </a:xfrm>
          <a:prstGeom prst="roundRect">
            <a:avLst>
              <a:gd fmla="val 241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640080" y="1143000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📋  Como funciona?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640080" y="1572768"/>
            <a:ext cx="35661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Pense em planilhas onde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cada linha pode 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colunas diferentes.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Um produto tem cor e peso.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Outro produto tem voltagem.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Cada um guarda só o que precisa.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640080" y="2907792"/>
            <a:ext cx="923544" cy="329184"/>
          </a:xfrm>
          <a:prstGeom prst="rect">
            <a:avLst/>
          </a:prstGeom>
          <a:solidFill>
            <a:srgbClr val="1A2B3C"/>
          </a:solidFill>
          <a:ln cap="flat" cmpd="sng" w="12700">
            <a:solidFill>
              <a:srgbClr val="1A2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676656" y="2944368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1600200" y="2907792"/>
            <a:ext cx="923544" cy="329184"/>
          </a:xfrm>
          <a:prstGeom prst="rect">
            <a:avLst/>
          </a:prstGeom>
          <a:solidFill>
            <a:srgbClr val="1A2B3C"/>
          </a:solidFill>
          <a:ln cap="flat" cmpd="sng" w="12700">
            <a:solidFill>
              <a:srgbClr val="1A2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1636776" y="2944368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2560320" y="2907792"/>
            <a:ext cx="786384" cy="329184"/>
          </a:xfrm>
          <a:prstGeom prst="rect">
            <a:avLst/>
          </a:prstGeom>
          <a:solidFill>
            <a:srgbClr val="1A2B3C"/>
          </a:solidFill>
          <a:ln cap="flat" cmpd="sng" w="12700">
            <a:solidFill>
              <a:srgbClr val="1A2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2596896" y="2944368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3383280" y="2907792"/>
            <a:ext cx="786384" cy="329184"/>
          </a:xfrm>
          <a:prstGeom prst="rect">
            <a:avLst/>
          </a:prstGeom>
          <a:solidFill>
            <a:srgbClr val="1A2B3C"/>
          </a:solidFill>
          <a:ln cap="flat" cmpd="sng" w="12700">
            <a:solidFill>
              <a:srgbClr val="1A2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3419856" y="2944368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Conector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640080" y="3273552"/>
            <a:ext cx="923544" cy="347472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676656" y="3328416"/>
            <a:ext cx="868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produto_id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1600200" y="3273552"/>
            <a:ext cx="923544" cy="347472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1636776" y="3328416"/>
            <a:ext cx="868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nome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2560320" y="3273552"/>
            <a:ext cx="786384" cy="347472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2596896" y="3328416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cor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3383280" y="3273552"/>
            <a:ext cx="786384" cy="347472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3419856" y="3328416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640080" y="3657600"/>
            <a:ext cx="923544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676656" y="3712464"/>
            <a:ext cx="868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ABC-001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1600200" y="3657600"/>
            <a:ext cx="923544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1636776" y="3712464"/>
            <a:ext cx="868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Notebook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2560320" y="3657600"/>
            <a:ext cx="786384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2596896" y="3712464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Prata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3383280" y="3657600"/>
            <a:ext cx="786384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3419856" y="3712464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640080" y="4041648"/>
            <a:ext cx="923544" cy="347472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676656" y="4096512"/>
            <a:ext cx="868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ABC-002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1600200" y="4041648"/>
            <a:ext cx="923544" cy="347472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"/>
          <p:cNvSpPr/>
          <p:nvPr/>
        </p:nvSpPr>
        <p:spPr>
          <a:xfrm>
            <a:off x="1636776" y="4096512"/>
            <a:ext cx="868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Fone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2560320" y="4041648"/>
            <a:ext cx="786384" cy="347472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2596896" y="4096512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3383280" y="4041648"/>
            <a:ext cx="786384" cy="347472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3419856" y="4096512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USB-C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640080" y="438912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Colunas em branco (—)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não ocupam espaço!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4617720" y="1005840"/>
            <a:ext cx="4069080" cy="3794760"/>
          </a:xfrm>
          <a:prstGeom prst="roundRect">
            <a:avLst>
              <a:gd fmla="val 241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4800600" y="114300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🆚  SQL vs Cassandra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4800600" y="1627632"/>
            <a:ext cx="1719072" cy="475488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"/>
          <p:cNvSpPr/>
          <p:nvPr/>
        </p:nvSpPr>
        <p:spPr>
          <a:xfrm>
            <a:off x="6537960" y="1627632"/>
            <a:ext cx="1938528" cy="475488"/>
          </a:xfrm>
          <a:prstGeom prst="rect">
            <a:avLst/>
          </a:prstGeom>
          <a:solidFill>
            <a:srgbClr val="F97316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4800600" y="1719072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SQL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6537960" y="1719072"/>
            <a:ext cx="19385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Cassandra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4800600" y="2194560"/>
            <a:ext cx="1719072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6537960" y="2194560"/>
            <a:ext cx="1938528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4800600" y="2286000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Tabelas fixas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6537960" y="2286000"/>
            <a:ext cx="19385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Colunas flexíveis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4800600" y="2761488"/>
            <a:ext cx="1719072" cy="475488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"/>
          <p:cNvSpPr/>
          <p:nvPr/>
        </p:nvSpPr>
        <p:spPr>
          <a:xfrm>
            <a:off x="6537960" y="2761488"/>
            <a:ext cx="1938528" cy="475488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"/>
          <p:cNvSpPr/>
          <p:nvPr/>
        </p:nvSpPr>
        <p:spPr>
          <a:xfrm>
            <a:off x="4800600" y="2852928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JOINs livres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6537960" y="2852928"/>
            <a:ext cx="19385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Sem JOINs nativos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4800600" y="3328416"/>
            <a:ext cx="1719072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"/>
          <p:cNvSpPr/>
          <p:nvPr/>
        </p:nvSpPr>
        <p:spPr>
          <a:xfrm>
            <a:off x="6537960" y="3328416"/>
            <a:ext cx="1938528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7"/>
          <p:cNvSpPr/>
          <p:nvPr/>
        </p:nvSpPr>
        <p:spPr>
          <a:xfrm>
            <a:off x="4800600" y="3419856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Um servidor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6537960" y="3419856"/>
            <a:ext cx="19385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Vários servidores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4800600" y="3895344"/>
            <a:ext cx="1719072" cy="475488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7"/>
          <p:cNvSpPr/>
          <p:nvPr/>
        </p:nvSpPr>
        <p:spPr>
          <a:xfrm>
            <a:off x="6537960" y="3895344"/>
            <a:ext cx="1938528" cy="475488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"/>
          <p:cNvSpPr/>
          <p:nvPr/>
        </p:nvSpPr>
        <p:spPr>
          <a:xfrm>
            <a:off x="4800600" y="3986784"/>
            <a:ext cx="17190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Schema rígido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6537960" y="3986784"/>
            <a:ext cx="19385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Schema por linha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5 / 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8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A2B3C"/>
                </a:solidFill>
                <a:latin typeface="Cambria"/>
                <a:ea typeface="Cambria"/>
                <a:cs typeface="Cambria"/>
                <a:sym typeface="Cambria"/>
              </a:rPr>
              <a:t>Cassandra vs MongoDB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Dois bancos NoSQL populares — com propostas bem diferentes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2834640" y="1234440"/>
            <a:ext cx="2651760" cy="475488"/>
          </a:xfrm>
          <a:prstGeom prst="roundRect">
            <a:avLst>
              <a:gd fmla="val 19231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2834640" y="1280160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⬡  Cassandra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5623560" y="1234440"/>
            <a:ext cx="2651760" cy="475488"/>
          </a:xfrm>
          <a:prstGeom prst="roundRect">
            <a:avLst>
              <a:gd fmla="val 19231" name="adj"/>
            </a:avLst>
          </a:prstGeom>
          <a:solidFill>
            <a:srgbClr val="00684A"/>
          </a:solidFill>
          <a:ln cap="flat" cmpd="sng" w="12700">
            <a:solidFill>
              <a:srgbClr val="0068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8"/>
          <p:cNvSpPr/>
          <p:nvPr/>
        </p:nvSpPr>
        <p:spPr>
          <a:xfrm>
            <a:off x="5623560" y="1280160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🍃  MongoDB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457200" y="1828800"/>
            <a:ext cx="2304288" cy="374904"/>
          </a:xfrm>
          <a:prstGeom prst="rect">
            <a:avLst/>
          </a:prstGeom>
          <a:solidFill>
            <a:srgbClr val="E2E8F0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8"/>
          <p:cNvSpPr/>
          <p:nvPr/>
        </p:nvSpPr>
        <p:spPr>
          <a:xfrm>
            <a:off x="566928" y="1901952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Tipo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2834640" y="1828800"/>
            <a:ext cx="2651760" cy="374904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8"/>
          <p:cNvSpPr/>
          <p:nvPr/>
        </p:nvSpPr>
        <p:spPr>
          <a:xfrm>
            <a:off x="2907792" y="1883664"/>
            <a:ext cx="25054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Colunar (Wide-Column)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5623560" y="1828800"/>
            <a:ext cx="2651760" cy="374904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8"/>
          <p:cNvSpPr/>
          <p:nvPr/>
        </p:nvSpPr>
        <p:spPr>
          <a:xfrm>
            <a:off x="5696712" y="1883664"/>
            <a:ext cx="25054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Orientado a Documentos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457200" y="2249424"/>
            <a:ext cx="2304288" cy="374904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8"/>
          <p:cNvSpPr/>
          <p:nvPr/>
        </p:nvSpPr>
        <p:spPr>
          <a:xfrm>
            <a:off x="566928" y="2322576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Como guarda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2834640" y="2249424"/>
            <a:ext cx="2651760" cy="3749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8"/>
          <p:cNvSpPr/>
          <p:nvPr/>
        </p:nvSpPr>
        <p:spPr>
          <a:xfrm>
            <a:off x="2907792" y="2304288"/>
            <a:ext cx="25054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Linhas com colunas flexíveis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5623560" y="2249424"/>
            <a:ext cx="2651760" cy="3749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"/>
          <p:cNvSpPr/>
          <p:nvPr/>
        </p:nvSpPr>
        <p:spPr>
          <a:xfrm>
            <a:off x="5696712" y="2304288"/>
            <a:ext cx="25054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Documentos JSON (BSON)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457200" y="2670048"/>
            <a:ext cx="2304288" cy="374904"/>
          </a:xfrm>
          <a:prstGeom prst="rect">
            <a:avLst/>
          </a:prstGeom>
          <a:solidFill>
            <a:srgbClr val="E2E8F0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8"/>
          <p:cNvSpPr/>
          <p:nvPr/>
        </p:nvSpPr>
        <p:spPr>
          <a:xfrm>
            <a:off x="566928" y="2743200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Escala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2834640" y="2670048"/>
            <a:ext cx="2651760" cy="374904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2907792" y="2724912"/>
            <a:ext cx="25054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Horizontal — muitos nós iguais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5623560" y="2670048"/>
            <a:ext cx="2651760" cy="374904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8"/>
          <p:cNvSpPr/>
          <p:nvPr/>
        </p:nvSpPr>
        <p:spPr>
          <a:xfrm>
            <a:off x="5696712" y="2724912"/>
            <a:ext cx="25054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Horizontal com sharding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457200" y="3090672"/>
            <a:ext cx="2304288" cy="374904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8"/>
          <p:cNvSpPr/>
          <p:nvPr/>
        </p:nvSpPr>
        <p:spPr>
          <a:xfrm>
            <a:off x="566928" y="3163824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Ponto forte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2834640" y="3090672"/>
            <a:ext cx="2651760" cy="3749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8"/>
          <p:cNvSpPr/>
          <p:nvPr/>
        </p:nvSpPr>
        <p:spPr>
          <a:xfrm>
            <a:off x="2907792" y="3145536"/>
            <a:ext cx="25054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Escrita muito rápida, alta disponibilidade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5623560" y="3090672"/>
            <a:ext cx="2651760" cy="3749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8"/>
          <p:cNvSpPr/>
          <p:nvPr/>
        </p:nvSpPr>
        <p:spPr>
          <a:xfrm>
            <a:off x="5696712" y="3145536"/>
            <a:ext cx="25054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Consultas flexíveis e JOINs ($lookup)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457200" y="3511296"/>
            <a:ext cx="2304288" cy="374904"/>
          </a:xfrm>
          <a:prstGeom prst="rect">
            <a:avLst/>
          </a:prstGeom>
          <a:solidFill>
            <a:srgbClr val="E2E8F0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8"/>
          <p:cNvSpPr/>
          <p:nvPr/>
        </p:nvSpPr>
        <p:spPr>
          <a:xfrm>
            <a:off x="566928" y="3584448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Ponto fraco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2834640" y="3511296"/>
            <a:ext cx="2651760" cy="374904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8"/>
          <p:cNvSpPr/>
          <p:nvPr/>
        </p:nvSpPr>
        <p:spPr>
          <a:xfrm>
            <a:off x="2907792" y="3566160"/>
            <a:ext cx="25054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Sem JOINs, queries planejadas antes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5623560" y="3511296"/>
            <a:ext cx="2651760" cy="374904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8"/>
          <p:cNvSpPr/>
          <p:nvPr/>
        </p:nvSpPr>
        <p:spPr>
          <a:xfrm>
            <a:off x="5696712" y="3566160"/>
            <a:ext cx="25054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Menos eficiente em escritas massivas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457200" y="3931920"/>
            <a:ext cx="2304288" cy="374904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8"/>
          <p:cNvSpPr/>
          <p:nvPr/>
        </p:nvSpPr>
        <p:spPr>
          <a:xfrm>
            <a:off x="566928" y="4005072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Teorema CAP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2834640" y="3931920"/>
            <a:ext cx="2651760" cy="3749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8"/>
          <p:cNvSpPr/>
          <p:nvPr/>
        </p:nvSpPr>
        <p:spPr>
          <a:xfrm>
            <a:off x="2907792" y="3986784"/>
            <a:ext cx="25054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AP — disponibilidade + tolerância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5623560" y="3931920"/>
            <a:ext cx="2651760" cy="3749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8"/>
          <p:cNvSpPr/>
          <p:nvPr/>
        </p:nvSpPr>
        <p:spPr>
          <a:xfrm>
            <a:off x="5696712" y="3986784"/>
            <a:ext cx="25054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CP — consistência + tolerância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457200" y="4352544"/>
            <a:ext cx="2304288" cy="374904"/>
          </a:xfrm>
          <a:prstGeom prst="rect">
            <a:avLst/>
          </a:prstGeom>
          <a:solidFill>
            <a:srgbClr val="E2E8F0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8"/>
          <p:cNvSpPr/>
          <p:nvPr/>
        </p:nvSpPr>
        <p:spPr>
          <a:xfrm>
            <a:off x="566928" y="4425696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Linguagem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2834640" y="4352544"/>
            <a:ext cx="2651760" cy="374904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8"/>
          <p:cNvSpPr/>
          <p:nvPr/>
        </p:nvSpPr>
        <p:spPr>
          <a:xfrm>
            <a:off x="2907792" y="4407408"/>
            <a:ext cx="25054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CQL (parecido com SQL)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5623560" y="4352544"/>
            <a:ext cx="2651760" cy="374904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8"/>
          <p:cNvSpPr/>
          <p:nvPr/>
        </p:nvSpPr>
        <p:spPr>
          <a:xfrm>
            <a:off x="5696712" y="4407408"/>
            <a:ext cx="25054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JSON / MQL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6 / 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B3C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9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Teorema CAP — onde o Cassandra se encaixa?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0B8D0"/>
                </a:solidFill>
                <a:latin typeface="Calibri"/>
                <a:ea typeface="Calibri"/>
                <a:cs typeface="Calibri"/>
                <a:sym typeface="Calibri"/>
              </a:rPr>
              <a:t>Todo banco distribído precisa escolher 2 dos 3: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914400" y="1417320"/>
            <a:ext cx="2011680" cy="2011680"/>
          </a:xfrm>
          <a:prstGeom prst="ellipse">
            <a:avLst/>
          </a:prstGeom>
          <a:solidFill>
            <a:srgbClr val="374151"/>
          </a:solidFill>
          <a:ln cap="flat" cmpd="sng" w="12700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9"/>
          <p:cNvSpPr/>
          <p:nvPr/>
        </p:nvSpPr>
        <p:spPr>
          <a:xfrm>
            <a:off x="914400" y="150876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9CA3AF"/>
                </a:solidFill>
                <a:latin typeface="Cambria"/>
                <a:ea typeface="Cambria"/>
                <a:cs typeface="Cambria"/>
                <a:sym typeface="Cambria"/>
              </a:rPr>
              <a:t>C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9"/>
          <p:cNvSpPr/>
          <p:nvPr/>
        </p:nvSpPr>
        <p:spPr>
          <a:xfrm>
            <a:off x="914400" y="214884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Consistência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914400" y="2578608"/>
            <a:ext cx="2011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Todos veem o mesmo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dado ao mesmo tempo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3566160" y="1417320"/>
            <a:ext cx="2011680" cy="2011680"/>
          </a:xfrm>
          <a:prstGeom prst="ellipse">
            <a:avLst/>
          </a:prstGeom>
          <a:solidFill>
            <a:srgbClr val="2563EB"/>
          </a:solidFill>
          <a:ln cap="flat" cmpd="sng" w="254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9"/>
          <p:cNvSpPr/>
          <p:nvPr/>
        </p:nvSpPr>
        <p:spPr>
          <a:xfrm>
            <a:off x="3566160" y="150876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3566160" y="214884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Disponibilidade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3566160" y="2578608"/>
            <a:ext cx="2011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C4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0C4FF"/>
                </a:solidFill>
                <a:latin typeface="Calibri"/>
                <a:ea typeface="Calibri"/>
                <a:cs typeface="Calibri"/>
                <a:sym typeface="Calibri"/>
              </a:rPr>
              <a:t>Sempre responde,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C4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0C4FF"/>
                </a:solidFill>
                <a:latin typeface="Calibri"/>
                <a:ea typeface="Calibri"/>
                <a:cs typeface="Calibri"/>
                <a:sym typeface="Calibri"/>
              </a:rPr>
              <a:t>mesmo com falhas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6217920" y="1417320"/>
            <a:ext cx="2011680" cy="2011680"/>
          </a:xfrm>
          <a:prstGeom prst="ellipse">
            <a:avLst/>
          </a:prstGeom>
          <a:solidFill>
            <a:srgbClr val="2563EB"/>
          </a:solidFill>
          <a:ln cap="flat" cmpd="sng" w="254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9"/>
          <p:cNvSpPr/>
          <p:nvPr/>
        </p:nvSpPr>
        <p:spPr>
          <a:xfrm>
            <a:off x="6217920" y="150876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6217920" y="214884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Tolerância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Falhas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6217920" y="2578608"/>
            <a:ext cx="2011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C4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0C4FF"/>
                </a:solidFill>
                <a:latin typeface="Calibri"/>
                <a:ea typeface="Calibri"/>
                <a:cs typeface="Calibri"/>
                <a:sym typeface="Calibri"/>
              </a:rPr>
              <a:t>Funciona mesmo 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C4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0C4FF"/>
                </a:solidFill>
                <a:latin typeface="Calibri"/>
                <a:ea typeface="Calibri"/>
                <a:cs typeface="Calibri"/>
                <a:sym typeface="Calibri"/>
              </a:rPr>
              <a:t>um servidor cair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457200" y="3584448"/>
            <a:ext cx="8229600" cy="1234440"/>
          </a:xfrm>
          <a:prstGeom prst="roundRect">
            <a:avLst>
              <a:gd fmla="val 8889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9"/>
          <p:cNvSpPr/>
          <p:nvPr/>
        </p:nvSpPr>
        <p:spPr>
          <a:xfrm>
            <a:off x="640080" y="367588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Cassandra escolhe  A + 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640080" y="4078224"/>
            <a:ext cx="78638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B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FDBFE"/>
                </a:solidFill>
                <a:latin typeface="Calibri"/>
                <a:ea typeface="Calibri"/>
                <a:cs typeface="Calibri"/>
                <a:sym typeface="Calibri"/>
              </a:rPr>
              <a:t>Isso significa: o banco está SEMPRE disponível e continua funcionando mesmo se um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B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FDBFE"/>
                </a:solidFill>
                <a:latin typeface="Calibri"/>
                <a:ea typeface="Calibri"/>
                <a:cs typeface="Calibri"/>
                <a:sym typeface="Calibri"/>
              </a:rPr>
              <a:t>servidor cair. Em troca, pode demorar um instante para todos os servidores verem o dado novo.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7 / 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A2B3C"/>
                </a:solidFill>
                <a:latin typeface="Cambria"/>
                <a:ea typeface="Cambria"/>
                <a:cs typeface="Cambria"/>
                <a:sym typeface="Cambria"/>
              </a:rPr>
              <a:t>Quando usar o Cassandra?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457200" y="96012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Empresas que usam hoje: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457200" y="1280160"/>
            <a:ext cx="1353312" cy="347472"/>
          </a:xfrm>
          <a:prstGeom prst="roundRect">
            <a:avLst>
              <a:gd fmla="val 21053" name="adj"/>
            </a:avLst>
          </a:prstGeom>
          <a:solidFill>
            <a:srgbClr val="1A2B3C"/>
          </a:solidFill>
          <a:ln cap="flat" cmpd="sng" w="12700">
            <a:solidFill>
              <a:srgbClr val="1A2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0"/>
          <p:cNvSpPr/>
          <p:nvPr/>
        </p:nvSpPr>
        <p:spPr>
          <a:xfrm>
            <a:off x="457200" y="1335024"/>
            <a:ext cx="13533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Netflix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1938528" y="1280160"/>
            <a:ext cx="1353312" cy="347472"/>
          </a:xfrm>
          <a:prstGeom prst="roundRect">
            <a:avLst>
              <a:gd fmla="val 21053" name="adj"/>
            </a:avLst>
          </a:prstGeom>
          <a:solidFill>
            <a:srgbClr val="1A2B3C"/>
          </a:solidFill>
          <a:ln cap="flat" cmpd="sng" w="12700">
            <a:solidFill>
              <a:srgbClr val="1A2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0"/>
          <p:cNvSpPr/>
          <p:nvPr/>
        </p:nvSpPr>
        <p:spPr>
          <a:xfrm>
            <a:off x="1938528" y="1335024"/>
            <a:ext cx="13533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Instagram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3419856" y="1280160"/>
            <a:ext cx="1353312" cy="347472"/>
          </a:xfrm>
          <a:prstGeom prst="roundRect">
            <a:avLst>
              <a:gd fmla="val 21053" name="adj"/>
            </a:avLst>
          </a:prstGeom>
          <a:solidFill>
            <a:srgbClr val="1A2B3C"/>
          </a:solidFill>
          <a:ln cap="flat" cmpd="sng" w="12700">
            <a:solidFill>
              <a:srgbClr val="1A2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0"/>
          <p:cNvSpPr/>
          <p:nvPr/>
        </p:nvSpPr>
        <p:spPr>
          <a:xfrm>
            <a:off x="3419856" y="1335024"/>
            <a:ext cx="13533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Uber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0"/>
          <p:cNvSpPr/>
          <p:nvPr/>
        </p:nvSpPr>
        <p:spPr>
          <a:xfrm>
            <a:off x="457200" y="1719072"/>
            <a:ext cx="1353312" cy="347472"/>
          </a:xfrm>
          <a:prstGeom prst="roundRect">
            <a:avLst>
              <a:gd fmla="val 21053" name="adj"/>
            </a:avLst>
          </a:prstGeom>
          <a:solidFill>
            <a:srgbClr val="1A2B3C"/>
          </a:solidFill>
          <a:ln cap="flat" cmpd="sng" w="12700">
            <a:solidFill>
              <a:srgbClr val="1A2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0"/>
          <p:cNvSpPr/>
          <p:nvPr/>
        </p:nvSpPr>
        <p:spPr>
          <a:xfrm>
            <a:off x="457200" y="1773936"/>
            <a:ext cx="13533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1938528" y="1719072"/>
            <a:ext cx="1353312" cy="347472"/>
          </a:xfrm>
          <a:prstGeom prst="roundRect">
            <a:avLst>
              <a:gd fmla="val 21053" name="adj"/>
            </a:avLst>
          </a:prstGeom>
          <a:solidFill>
            <a:srgbClr val="1A2B3C"/>
          </a:solidFill>
          <a:ln cap="flat" cmpd="sng" w="12700">
            <a:solidFill>
              <a:srgbClr val="1A2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0"/>
          <p:cNvSpPr/>
          <p:nvPr/>
        </p:nvSpPr>
        <p:spPr>
          <a:xfrm>
            <a:off x="1938528" y="1773936"/>
            <a:ext cx="13533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Discord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0"/>
          <p:cNvSpPr/>
          <p:nvPr/>
        </p:nvSpPr>
        <p:spPr>
          <a:xfrm>
            <a:off x="3419856" y="1719072"/>
            <a:ext cx="1353312" cy="347472"/>
          </a:xfrm>
          <a:prstGeom prst="roundRect">
            <a:avLst>
              <a:gd fmla="val 21053" name="adj"/>
            </a:avLst>
          </a:prstGeom>
          <a:solidFill>
            <a:srgbClr val="1A2B3C"/>
          </a:solidFill>
          <a:ln cap="flat" cmpd="sng" w="12700">
            <a:solidFill>
              <a:srgbClr val="1A2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0"/>
          <p:cNvSpPr/>
          <p:nvPr/>
        </p:nvSpPr>
        <p:spPr>
          <a:xfrm>
            <a:off x="3419856" y="1773936"/>
            <a:ext cx="13533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Twitter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457200" y="2331720"/>
            <a:ext cx="3931920" cy="2468880"/>
          </a:xfrm>
          <a:prstGeom prst="roundRect">
            <a:avLst>
              <a:gd fmla="val 370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0"/>
          <p:cNvSpPr/>
          <p:nvPr/>
        </p:nvSpPr>
        <p:spPr>
          <a:xfrm>
            <a:off x="640080" y="2450592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✅  Bom para...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640080" y="2852928"/>
            <a:ext cx="35661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Muitos usuários ao mesmo tempo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Dados que crescem muito rápido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App que não pode sair do 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Histórico de eventos / logs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0"/>
          <p:cNvSpPr/>
          <p:nvPr/>
        </p:nvSpPr>
        <p:spPr>
          <a:xfrm>
            <a:off x="4709160" y="2331720"/>
            <a:ext cx="3977640" cy="2468880"/>
          </a:xfrm>
          <a:prstGeom prst="roundRect">
            <a:avLst>
              <a:gd fmla="val 370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0"/>
          <p:cNvSpPr/>
          <p:nvPr/>
        </p:nvSpPr>
        <p:spPr>
          <a:xfrm>
            <a:off x="4892040" y="2450592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❌  Cuidado com...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4892040" y="2852928"/>
            <a:ext cx="35661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Relatórios complexos com JOINs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Transações bancárias (ACID)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Equipe pequena sem suporte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Dados que mudam pouco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8 / 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B3C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Nosso Projeto: EstoqueDB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0B8D0"/>
                </a:solidFill>
                <a:latin typeface="Calibri"/>
                <a:ea typeface="Calibri"/>
                <a:cs typeface="Calibri"/>
                <a:sym typeface="Calibri"/>
              </a:rPr>
              <a:t>Sistema de gestão de estoque rodando sobre Apache Cassandra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1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O banco de dados do projeto: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457200" y="1755648"/>
            <a:ext cx="1965960" cy="1389888"/>
          </a:xfrm>
          <a:prstGeom prst="roundRect">
            <a:avLst>
              <a:gd fmla="val 7895" name="adj"/>
            </a:avLst>
          </a:prstGeom>
          <a:solidFill>
            <a:srgbClr val="1E3A5F"/>
          </a:solidFill>
          <a:ln cap="flat" cmpd="sng" w="1015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1"/>
          <p:cNvSpPr/>
          <p:nvPr/>
        </p:nvSpPr>
        <p:spPr>
          <a:xfrm>
            <a:off x="457200" y="1847088"/>
            <a:ext cx="19659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97316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1"/>
          <p:cNvSpPr/>
          <p:nvPr/>
        </p:nvSpPr>
        <p:spPr>
          <a:xfrm>
            <a:off x="457200" y="2487168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Tabelas CQL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1"/>
          <p:cNvSpPr/>
          <p:nvPr/>
        </p:nvSpPr>
        <p:spPr>
          <a:xfrm>
            <a:off x="457200" y="2779776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0B8D0"/>
                </a:solidFill>
                <a:latin typeface="Calibri"/>
                <a:ea typeface="Calibri"/>
                <a:cs typeface="Calibri"/>
                <a:sym typeface="Calibri"/>
              </a:rPr>
              <a:t>criadas no Cassandra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2633472" y="1755648"/>
            <a:ext cx="1965960" cy="1389888"/>
          </a:xfrm>
          <a:prstGeom prst="roundRect">
            <a:avLst>
              <a:gd fmla="val 7895" name="adj"/>
            </a:avLst>
          </a:prstGeom>
          <a:solidFill>
            <a:srgbClr val="1E3A5F"/>
          </a:solidFill>
          <a:ln cap="flat" cmpd="sng" w="1015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1"/>
          <p:cNvSpPr/>
          <p:nvPr/>
        </p:nvSpPr>
        <p:spPr>
          <a:xfrm>
            <a:off x="2633472" y="1847088"/>
            <a:ext cx="19659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97316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1"/>
          <p:cNvSpPr/>
          <p:nvPr/>
        </p:nvSpPr>
        <p:spPr>
          <a:xfrm>
            <a:off x="2633472" y="2487168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Keyspace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1"/>
          <p:cNvSpPr/>
          <p:nvPr/>
        </p:nvSpPr>
        <p:spPr>
          <a:xfrm>
            <a:off x="2633472" y="2779776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0B8D0"/>
                </a:solidFill>
                <a:latin typeface="Calibri"/>
                <a:ea typeface="Calibri"/>
                <a:cs typeface="Calibri"/>
                <a:sym typeface="Calibri"/>
              </a:rPr>
              <a:t>chamado  estoque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1"/>
          <p:cNvSpPr/>
          <p:nvPr/>
        </p:nvSpPr>
        <p:spPr>
          <a:xfrm>
            <a:off x="4809744" y="1755648"/>
            <a:ext cx="1965960" cy="1389888"/>
          </a:xfrm>
          <a:prstGeom prst="roundRect">
            <a:avLst>
              <a:gd fmla="val 7895" name="adj"/>
            </a:avLst>
          </a:prstGeom>
          <a:solidFill>
            <a:srgbClr val="1E3A5F"/>
          </a:solidFill>
          <a:ln cap="flat" cmpd="sng" w="1015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1"/>
          <p:cNvSpPr/>
          <p:nvPr/>
        </p:nvSpPr>
        <p:spPr>
          <a:xfrm>
            <a:off x="4809744" y="1847088"/>
            <a:ext cx="19659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97316"/>
                </a:solidFill>
                <a:latin typeface="Cambria"/>
                <a:ea typeface="Cambria"/>
                <a:cs typeface="Cambria"/>
                <a:sym typeface="Cambria"/>
              </a:rPr>
              <a:t>RF1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1"/>
          <p:cNvSpPr/>
          <p:nvPr/>
        </p:nvSpPr>
        <p:spPr>
          <a:xfrm>
            <a:off x="4809744" y="2487168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Replication Factor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1"/>
          <p:cNvSpPr/>
          <p:nvPr/>
        </p:nvSpPr>
        <p:spPr>
          <a:xfrm>
            <a:off x="4809744" y="2779776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0B8D0"/>
                </a:solidFill>
                <a:latin typeface="Calibri"/>
                <a:ea typeface="Calibri"/>
                <a:cs typeface="Calibri"/>
                <a:sym typeface="Calibri"/>
              </a:rPr>
              <a:t>1 nó (ambiente local)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1"/>
          <p:cNvSpPr/>
          <p:nvPr/>
        </p:nvSpPr>
        <p:spPr>
          <a:xfrm>
            <a:off x="6986016" y="1755648"/>
            <a:ext cx="1965960" cy="1389888"/>
          </a:xfrm>
          <a:prstGeom prst="roundRect">
            <a:avLst>
              <a:gd fmla="val 7895" name="adj"/>
            </a:avLst>
          </a:prstGeom>
          <a:solidFill>
            <a:srgbClr val="1E3A5F"/>
          </a:solidFill>
          <a:ln cap="flat" cmpd="sng" w="1015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1"/>
          <p:cNvSpPr/>
          <p:nvPr/>
        </p:nvSpPr>
        <p:spPr>
          <a:xfrm>
            <a:off x="6986016" y="1847088"/>
            <a:ext cx="19659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97316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1"/>
          <p:cNvSpPr/>
          <p:nvPr/>
        </p:nvSpPr>
        <p:spPr>
          <a:xfrm>
            <a:off x="6986016" y="2487168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Consultas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1"/>
          <p:cNvSpPr/>
          <p:nvPr/>
        </p:nvSpPr>
        <p:spPr>
          <a:xfrm>
            <a:off x="6986016" y="2779776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B8D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0B8D0"/>
                </a:solidFill>
                <a:latin typeface="Calibri"/>
                <a:ea typeface="Calibri"/>
                <a:cs typeface="Calibri"/>
                <a:sym typeface="Calibri"/>
              </a:rPr>
              <a:t>rodando no Cassandra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1"/>
          <p:cNvSpPr/>
          <p:nvPr/>
        </p:nvSpPr>
        <p:spPr>
          <a:xfrm>
            <a:off x="457200" y="3310128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As tabelas que criamos: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1"/>
          <p:cNvSpPr/>
          <p:nvPr/>
        </p:nvSpPr>
        <p:spPr>
          <a:xfrm>
            <a:off x="457200" y="3675888"/>
            <a:ext cx="2697480" cy="402336"/>
          </a:xfrm>
          <a:prstGeom prst="roundRect">
            <a:avLst>
              <a:gd fmla="val 18182" name="adj"/>
            </a:avLst>
          </a:prstGeom>
          <a:solidFill>
            <a:srgbClr val="162032"/>
          </a:solidFill>
          <a:ln cap="flat" cmpd="sng" w="9525">
            <a:solidFill>
              <a:srgbClr val="2D5A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1"/>
          <p:cNvSpPr/>
          <p:nvPr/>
        </p:nvSpPr>
        <p:spPr>
          <a:xfrm>
            <a:off x="585216" y="3749040"/>
            <a:ext cx="24505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categorias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1"/>
          <p:cNvSpPr/>
          <p:nvPr/>
        </p:nvSpPr>
        <p:spPr>
          <a:xfrm>
            <a:off x="3337560" y="3675888"/>
            <a:ext cx="2697480" cy="402336"/>
          </a:xfrm>
          <a:prstGeom prst="roundRect">
            <a:avLst>
              <a:gd fmla="val 18182" name="adj"/>
            </a:avLst>
          </a:prstGeom>
          <a:solidFill>
            <a:srgbClr val="162032"/>
          </a:solidFill>
          <a:ln cap="flat" cmpd="sng" w="9525">
            <a:solidFill>
              <a:srgbClr val="2D5A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1"/>
          <p:cNvSpPr/>
          <p:nvPr/>
        </p:nvSpPr>
        <p:spPr>
          <a:xfrm>
            <a:off x="3465576" y="3749040"/>
            <a:ext cx="24505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fornecedores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1"/>
          <p:cNvSpPr/>
          <p:nvPr/>
        </p:nvSpPr>
        <p:spPr>
          <a:xfrm>
            <a:off x="6217920" y="3675888"/>
            <a:ext cx="2697480" cy="402336"/>
          </a:xfrm>
          <a:prstGeom prst="roundRect">
            <a:avLst>
              <a:gd fmla="val 18182" name="adj"/>
            </a:avLst>
          </a:prstGeom>
          <a:solidFill>
            <a:srgbClr val="162032"/>
          </a:solidFill>
          <a:ln cap="flat" cmpd="sng" w="9525">
            <a:solidFill>
              <a:srgbClr val="2D5A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1"/>
          <p:cNvSpPr/>
          <p:nvPr/>
        </p:nvSpPr>
        <p:spPr>
          <a:xfrm>
            <a:off x="6345936" y="3749040"/>
            <a:ext cx="24505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produtos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1"/>
          <p:cNvSpPr/>
          <p:nvPr/>
        </p:nvSpPr>
        <p:spPr>
          <a:xfrm>
            <a:off x="457200" y="4169664"/>
            <a:ext cx="2697480" cy="402336"/>
          </a:xfrm>
          <a:prstGeom prst="roundRect">
            <a:avLst>
              <a:gd fmla="val 18182" name="adj"/>
            </a:avLst>
          </a:prstGeom>
          <a:solidFill>
            <a:srgbClr val="162032"/>
          </a:solidFill>
          <a:ln cap="flat" cmpd="sng" w="9525">
            <a:solidFill>
              <a:srgbClr val="2D5A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1"/>
          <p:cNvSpPr/>
          <p:nvPr/>
        </p:nvSpPr>
        <p:spPr>
          <a:xfrm>
            <a:off x="585216" y="4242816"/>
            <a:ext cx="24505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estoque_por_armazem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1"/>
          <p:cNvSpPr/>
          <p:nvPr/>
        </p:nvSpPr>
        <p:spPr>
          <a:xfrm>
            <a:off x="3337560" y="4169664"/>
            <a:ext cx="2697480" cy="402336"/>
          </a:xfrm>
          <a:prstGeom prst="roundRect">
            <a:avLst>
              <a:gd fmla="val 18182" name="adj"/>
            </a:avLst>
          </a:prstGeom>
          <a:solidFill>
            <a:srgbClr val="162032"/>
          </a:solidFill>
          <a:ln cap="flat" cmpd="sng" w="9525">
            <a:solidFill>
              <a:srgbClr val="2D5A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1"/>
          <p:cNvSpPr/>
          <p:nvPr/>
        </p:nvSpPr>
        <p:spPr>
          <a:xfrm>
            <a:off x="3465576" y="4242816"/>
            <a:ext cx="24505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estoque_por_produto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1"/>
          <p:cNvSpPr/>
          <p:nvPr/>
        </p:nvSpPr>
        <p:spPr>
          <a:xfrm>
            <a:off x="6217920" y="4169664"/>
            <a:ext cx="2697480" cy="402336"/>
          </a:xfrm>
          <a:prstGeom prst="roundRect">
            <a:avLst>
              <a:gd fmla="val 18182" name="adj"/>
            </a:avLst>
          </a:prstGeom>
          <a:solidFill>
            <a:srgbClr val="162032"/>
          </a:solidFill>
          <a:ln cap="flat" cmpd="sng" w="9525">
            <a:solidFill>
              <a:srgbClr val="2D5A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1"/>
          <p:cNvSpPr/>
          <p:nvPr/>
        </p:nvSpPr>
        <p:spPr>
          <a:xfrm>
            <a:off x="6345936" y="4242816"/>
            <a:ext cx="24505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movimentacoes_por_produto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9 / 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2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A2B3C"/>
                </a:solidFill>
                <a:latin typeface="Cambria"/>
                <a:ea typeface="Cambria"/>
                <a:cs typeface="Cambria"/>
                <a:sym typeface="Cambria"/>
              </a:rPr>
              <a:t>Como rodar o projeto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2"/>
          <p:cNvSpPr/>
          <p:nvPr/>
        </p:nvSpPr>
        <p:spPr>
          <a:xfrm>
            <a:off x="457200" y="1005840"/>
            <a:ext cx="8229600" cy="713232"/>
          </a:xfrm>
          <a:prstGeom prst="roundRect">
            <a:avLst>
              <a:gd fmla="val 1282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2"/>
          <p:cNvSpPr/>
          <p:nvPr/>
        </p:nvSpPr>
        <p:spPr>
          <a:xfrm>
            <a:off x="566928" y="1143000"/>
            <a:ext cx="438912" cy="43891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2"/>
          <p:cNvSpPr/>
          <p:nvPr/>
        </p:nvSpPr>
        <p:spPr>
          <a:xfrm>
            <a:off x="566928" y="1152144"/>
            <a:ext cx="43891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2"/>
          <p:cNvSpPr/>
          <p:nvPr/>
        </p:nvSpPr>
        <p:spPr>
          <a:xfrm>
            <a:off x="1115568" y="10972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Baixar o projeto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2"/>
          <p:cNvSpPr/>
          <p:nvPr/>
        </p:nvSpPr>
        <p:spPr>
          <a:xfrm>
            <a:off x="1115568" y="1408176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Extrair a pasta do projeto no computador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2"/>
          <p:cNvSpPr/>
          <p:nvPr/>
        </p:nvSpPr>
        <p:spPr>
          <a:xfrm>
            <a:off x="4023360" y="1124712"/>
            <a:ext cx="4480560" cy="457200"/>
          </a:xfrm>
          <a:prstGeom prst="roundRect">
            <a:avLst>
              <a:gd fmla="val 14000" name="adj"/>
            </a:avLst>
          </a:prstGeom>
          <a:solidFill>
            <a:srgbClr val="1A2B3C"/>
          </a:solidFill>
          <a:ln cap="flat" cmpd="sng" w="9525">
            <a:solidFill>
              <a:srgbClr val="2D5A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2"/>
          <p:cNvSpPr/>
          <p:nvPr/>
        </p:nvSpPr>
        <p:spPr>
          <a:xfrm>
            <a:off x="4160520" y="1170432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git clone / descompactar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2"/>
          <p:cNvSpPr/>
          <p:nvPr/>
        </p:nvSpPr>
        <p:spPr>
          <a:xfrm>
            <a:off x="457200" y="1801368"/>
            <a:ext cx="8229600" cy="713232"/>
          </a:xfrm>
          <a:prstGeom prst="roundRect">
            <a:avLst>
              <a:gd fmla="val 1282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2"/>
          <p:cNvSpPr/>
          <p:nvPr/>
        </p:nvSpPr>
        <p:spPr>
          <a:xfrm>
            <a:off x="566928" y="1938528"/>
            <a:ext cx="438912" cy="43891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2"/>
          <p:cNvSpPr/>
          <p:nvPr/>
        </p:nvSpPr>
        <p:spPr>
          <a:xfrm>
            <a:off x="566928" y="1947672"/>
            <a:ext cx="43891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2"/>
          <p:cNvSpPr/>
          <p:nvPr/>
        </p:nvSpPr>
        <p:spPr>
          <a:xfrm>
            <a:off x="1115568" y="18928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Subir o Docker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2"/>
          <p:cNvSpPr/>
          <p:nvPr/>
        </p:nvSpPr>
        <p:spPr>
          <a:xfrm>
            <a:off x="1115568" y="2203704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Sobe o Cassandra e a aplicação juntos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2"/>
          <p:cNvSpPr/>
          <p:nvPr/>
        </p:nvSpPr>
        <p:spPr>
          <a:xfrm>
            <a:off x="4023360" y="1920240"/>
            <a:ext cx="4480560" cy="457200"/>
          </a:xfrm>
          <a:prstGeom prst="roundRect">
            <a:avLst>
              <a:gd fmla="val 14000" name="adj"/>
            </a:avLst>
          </a:prstGeom>
          <a:solidFill>
            <a:srgbClr val="1A2B3C"/>
          </a:solidFill>
          <a:ln cap="flat" cmpd="sng" w="9525">
            <a:solidFill>
              <a:srgbClr val="2D5A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2"/>
          <p:cNvSpPr/>
          <p:nvPr/>
        </p:nvSpPr>
        <p:spPr>
          <a:xfrm>
            <a:off x="4160520" y="1965960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docker compose up -d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2"/>
          <p:cNvSpPr/>
          <p:nvPr/>
        </p:nvSpPr>
        <p:spPr>
          <a:xfrm>
            <a:off x="457200" y="2596896"/>
            <a:ext cx="8229600" cy="713232"/>
          </a:xfrm>
          <a:prstGeom prst="roundRect">
            <a:avLst>
              <a:gd fmla="val 1282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2"/>
          <p:cNvSpPr/>
          <p:nvPr/>
        </p:nvSpPr>
        <p:spPr>
          <a:xfrm>
            <a:off x="566928" y="2734056"/>
            <a:ext cx="438912" cy="43891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2"/>
          <p:cNvSpPr/>
          <p:nvPr/>
        </p:nvSpPr>
        <p:spPr>
          <a:xfrm>
            <a:off x="566928" y="2743200"/>
            <a:ext cx="43891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2"/>
          <p:cNvSpPr/>
          <p:nvPr/>
        </p:nvSpPr>
        <p:spPr>
          <a:xfrm>
            <a:off x="1115568" y="268833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Criar o banco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2"/>
          <p:cNvSpPr/>
          <p:nvPr/>
        </p:nvSpPr>
        <p:spPr>
          <a:xfrm>
            <a:off x="1115568" y="2999232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Cria as tabelas no Cassandra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2"/>
          <p:cNvSpPr/>
          <p:nvPr/>
        </p:nvSpPr>
        <p:spPr>
          <a:xfrm>
            <a:off x="4023360" y="2715768"/>
            <a:ext cx="4480560" cy="457200"/>
          </a:xfrm>
          <a:prstGeom prst="roundRect">
            <a:avLst>
              <a:gd fmla="val 14000" name="adj"/>
            </a:avLst>
          </a:prstGeom>
          <a:solidFill>
            <a:srgbClr val="1A2B3C"/>
          </a:solidFill>
          <a:ln cap="flat" cmpd="sng" w="9525">
            <a:solidFill>
              <a:srgbClr val="2D5A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2"/>
          <p:cNvSpPr/>
          <p:nvPr/>
        </p:nvSpPr>
        <p:spPr>
          <a:xfrm>
            <a:off x="4160520" y="2761488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cqlsh &lt; scripts/schema.cql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2"/>
          <p:cNvSpPr/>
          <p:nvPr/>
        </p:nvSpPr>
        <p:spPr>
          <a:xfrm>
            <a:off x="457200" y="3392424"/>
            <a:ext cx="8229600" cy="713232"/>
          </a:xfrm>
          <a:prstGeom prst="roundRect">
            <a:avLst>
              <a:gd fmla="val 1282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2"/>
          <p:cNvSpPr/>
          <p:nvPr/>
        </p:nvSpPr>
        <p:spPr>
          <a:xfrm>
            <a:off x="566928" y="3529584"/>
            <a:ext cx="438912" cy="43891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2"/>
          <p:cNvSpPr/>
          <p:nvPr/>
        </p:nvSpPr>
        <p:spPr>
          <a:xfrm>
            <a:off x="566928" y="3538728"/>
            <a:ext cx="43891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2"/>
          <p:cNvSpPr/>
          <p:nvPr/>
        </p:nvSpPr>
        <p:spPr>
          <a:xfrm>
            <a:off x="1115568" y="3483864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Inserir dados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2"/>
          <p:cNvSpPr/>
          <p:nvPr/>
        </p:nvSpPr>
        <p:spPr>
          <a:xfrm>
            <a:off x="1115568" y="3794760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Coloca dados de exemplo no banco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2"/>
          <p:cNvSpPr/>
          <p:nvPr/>
        </p:nvSpPr>
        <p:spPr>
          <a:xfrm>
            <a:off x="4023360" y="3511296"/>
            <a:ext cx="4480560" cy="457200"/>
          </a:xfrm>
          <a:prstGeom prst="roundRect">
            <a:avLst>
              <a:gd fmla="val 14000" name="adj"/>
            </a:avLst>
          </a:prstGeom>
          <a:solidFill>
            <a:srgbClr val="1A2B3C"/>
          </a:solidFill>
          <a:ln cap="flat" cmpd="sng" w="9525">
            <a:solidFill>
              <a:srgbClr val="2D5A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2"/>
          <p:cNvSpPr/>
          <p:nvPr/>
        </p:nvSpPr>
        <p:spPr>
          <a:xfrm>
            <a:off x="4160520" y="3557016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cqlsh &lt; scripts/seed.cql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2"/>
          <p:cNvSpPr/>
          <p:nvPr/>
        </p:nvSpPr>
        <p:spPr>
          <a:xfrm>
            <a:off x="457200" y="4187952"/>
            <a:ext cx="8229600" cy="713232"/>
          </a:xfrm>
          <a:prstGeom prst="roundRect">
            <a:avLst>
              <a:gd fmla="val 1282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2"/>
          <p:cNvSpPr/>
          <p:nvPr/>
        </p:nvSpPr>
        <p:spPr>
          <a:xfrm>
            <a:off x="566928" y="4325112"/>
            <a:ext cx="438912" cy="43891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2"/>
          <p:cNvSpPr/>
          <p:nvPr/>
        </p:nvSpPr>
        <p:spPr>
          <a:xfrm>
            <a:off x="566928" y="4334256"/>
            <a:ext cx="43891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2"/>
          <p:cNvSpPr/>
          <p:nvPr/>
        </p:nvSpPr>
        <p:spPr>
          <a:xfrm>
            <a:off x="1115568" y="427939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Abrir no browser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2"/>
          <p:cNvSpPr/>
          <p:nvPr/>
        </p:nvSpPr>
        <p:spPr>
          <a:xfrm>
            <a:off x="1115568" y="4590288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Acessar a aplicação rodando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2"/>
          <p:cNvSpPr/>
          <p:nvPr/>
        </p:nvSpPr>
        <p:spPr>
          <a:xfrm>
            <a:off x="4023360" y="4306824"/>
            <a:ext cx="4480560" cy="457200"/>
          </a:xfrm>
          <a:prstGeom prst="roundRect">
            <a:avLst>
              <a:gd fmla="val 14000" name="adj"/>
            </a:avLst>
          </a:prstGeom>
          <a:solidFill>
            <a:srgbClr val="1A2B3C"/>
          </a:solidFill>
          <a:ln cap="flat" cmpd="sng" w="9525">
            <a:solidFill>
              <a:srgbClr val="2D5A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2"/>
          <p:cNvSpPr/>
          <p:nvPr/>
        </p:nvSpPr>
        <p:spPr>
          <a:xfrm>
            <a:off x="4160520" y="4352544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http://localhost:5001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10 / 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B3C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3"/>
          <p:cNvSpPr/>
          <p:nvPr/>
        </p:nvSpPr>
        <p:spPr>
          <a:xfrm>
            <a:off x="6583680" y="914400"/>
            <a:ext cx="4114800" cy="4114800"/>
          </a:xfrm>
          <a:prstGeom prst="ellipse">
            <a:avLst/>
          </a:prstGeom>
          <a:solidFill>
            <a:srgbClr val="2563EB">
              <a:alpha val="14901"/>
            </a:srgbClr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3"/>
          <p:cNvSpPr/>
          <p:nvPr/>
        </p:nvSpPr>
        <p:spPr>
          <a:xfrm>
            <a:off x="457200" y="320040"/>
            <a:ext cx="6400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Demonstração ao Vivo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3"/>
          <p:cNvSpPr/>
          <p:nvPr/>
        </p:nvSpPr>
        <p:spPr>
          <a:xfrm>
            <a:off x="457200" y="1097280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O que vamos mostrar agora: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3"/>
          <p:cNvSpPr/>
          <p:nvPr/>
        </p:nvSpPr>
        <p:spPr>
          <a:xfrm>
            <a:off x="457200" y="1572768"/>
            <a:ext cx="62179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7DEF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C7DEFF"/>
                </a:solidFill>
                <a:latin typeface="Calibri"/>
                <a:ea typeface="Calibri"/>
                <a:cs typeface="Calibri"/>
                <a:sym typeface="Calibri"/>
              </a:rPr>
              <a:t>🐳  Docker rodando — Cassandra + Aplicação conectados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7DEF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C7DEFF"/>
                </a:solidFill>
                <a:latin typeface="Calibri"/>
                <a:ea typeface="Calibri"/>
                <a:cs typeface="Calibri"/>
                <a:sym typeface="Calibri"/>
              </a:rPr>
              <a:t>📦  Criar, editar e excluir um produto (CRUD)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7DEF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C7DEFF"/>
                </a:solidFill>
                <a:latin typeface="Calibri"/>
                <a:ea typeface="Calibri"/>
                <a:cs typeface="Calibri"/>
                <a:sym typeface="Calibri"/>
              </a:rPr>
              <a:t>🔍  Consulta 1: Agrupamento por categoria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7DEF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C7DEFF"/>
                </a:solidFill>
                <a:latin typeface="Calibri"/>
                <a:ea typeface="Calibri"/>
                <a:cs typeface="Calibri"/>
                <a:sym typeface="Calibri"/>
              </a:rPr>
              <a:t>🔍  Consulta 2: Expansão dos atributos do produto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3"/>
          <p:cNvSpPr/>
          <p:nvPr/>
        </p:nvSpPr>
        <p:spPr>
          <a:xfrm>
            <a:off x="457200" y="4462272"/>
            <a:ext cx="8229600" cy="475488"/>
          </a:xfrm>
          <a:prstGeom prst="roundRect">
            <a:avLst>
              <a:gd fmla="val 19231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3"/>
          <p:cNvSpPr/>
          <p:nvPr/>
        </p:nvSpPr>
        <p:spPr>
          <a:xfrm>
            <a:off x="594360" y="4526280"/>
            <a:ext cx="7955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Cassandra: NoSQL Colunar · AP (CAP) · 6 tabelas · CRUD completo · Sem ponto único de falha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11 / 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