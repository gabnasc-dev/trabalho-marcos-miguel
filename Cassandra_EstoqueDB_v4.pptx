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— apresentar o grupo e o banco sorteado: Apache Cassandra, G9.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Grupo — apresentar cada integrante.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é — falar de forma simples: não é SQL, foi criado pelo Facebook, é muito rápido e não tem ponto de falha único.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os dados são armazenados — comparar com SQL: no SQL tem NULL em todo lado, no Cassandra só guarda o que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Tipo Colunar — comparar com planilha onde cada linha pode ter colunas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Teorema CAP — Cassandra escolhe disponibilidade e tolerância a falhas.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Casos de uso — mostrar que empresas grandes usam. Falar quando é bom e quando não 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Nosso Projeto — foco no banco: 6 tabelas, 1 keyspace, 5 consultas. Mostrar as tabelas.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rodar — mostrar o terminal com docker compose up -d na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AO VIVO — Docker, CRUD de produto, consulta 1 e consulta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NÃO RELACIONAIS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Cassandra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de Estoque — EstoqueDB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16459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 ·  17 de Junho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 equipe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Cassandra  ·  Banco de Dados Não Relacionais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7772400" cy="512064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929384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93852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07008" y="19842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36192" y="19842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 Rebelatto Miranda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78024"/>
            <a:ext cx="7772400" cy="512064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532888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54203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07008" y="258775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36192" y="25877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do Nascimento Rodrigues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7772400" cy="512064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13639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14553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07008" y="319125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36192" y="319125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Guerra de Paulo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685032"/>
            <a:ext cx="7772400" cy="512064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739896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74904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07008" y="379476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36192" y="37947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Vitor Ferreira da Silva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288536"/>
            <a:ext cx="7772400" cy="512064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34340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35254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439826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36192" y="439826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Barreiros Moreira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Apache Cassandra?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NoSQL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70992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 tabelas como o SQL.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dados em colunas largas.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23560" y="1325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pelo Facebook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23560" y="170992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Surgiu em 2008 para aguentar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bilhões de mensagens por dia.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25880" y="3017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rápido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40156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e escreve dados 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milissegundos, mesmo com TBs.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23560" y="3017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chefe único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23560" y="340156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servidores trabalham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 — se um cair, funciona.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Cassandra armazena os dados?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SQL — cada linha pode ter colunas diferentes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SQL tradicional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384048" cy="310896"/>
          </a:xfrm>
          <a:prstGeom prst="rect">
            <a:avLst/>
          </a:prstGeom>
          <a:solidFill>
            <a:srgbClr val="374151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70078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664208"/>
            <a:ext cx="795528" cy="310896"/>
          </a:xfrm>
          <a:prstGeom prst="rect">
            <a:avLst/>
          </a:prstGeom>
          <a:solidFill>
            <a:srgbClr val="374151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17007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91640" y="1664208"/>
            <a:ext cx="539496" cy="310896"/>
          </a:xfrm>
          <a:prstGeom prst="rect">
            <a:avLst/>
          </a:prstGeom>
          <a:solidFill>
            <a:srgbClr val="374151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8216" y="170078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58568" y="1664208"/>
            <a:ext cx="667512" cy="310896"/>
          </a:xfrm>
          <a:prstGeom prst="rect">
            <a:avLst/>
          </a:prstGeom>
          <a:solidFill>
            <a:srgbClr val="374151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95144" y="170078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53512" y="1664208"/>
            <a:ext cx="630936" cy="310896"/>
          </a:xfrm>
          <a:prstGeom prst="rect">
            <a:avLst/>
          </a:prstGeom>
          <a:solidFill>
            <a:srgbClr val="374151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170078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84048" cy="310896"/>
          </a:xfrm>
          <a:prstGeom prst="rect">
            <a:avLst/>
          </a:prstGeom>
          <a:solidFill>
            <a:srgbClr val="26334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06654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68680" y="2011680"/>
            <a:ext cx="795528" cy="310896"/>
          </a:xfrm>
          <a:prstGeom prst="rect">
            <a:avLst/>
          </a:prstGeom>
          <a:solidFill>
            <a:srgbClr val="26334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20665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91640" y="2011680"/>
            <a:ext cx="539496" cy="310896"/>
          </a:xfrm>
          <a:prstGeom prst="rect">
            <a:avLst/>
          </a:prstGeom>
          <a:solidFill>
            <a:srgbClr val="26334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28216" y="206654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58568" y="2011680"/>
            <a:ext cx="667512" cy="310896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95144" y="206654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53512" y="2011680"/>
            <a:ext cx="630936" cy="310896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0088" y="20665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359152"/>
            <a:ext cx="384048" cy="310896"/>
          </a:xfrm>
          <a:prstGeom prst="rect">
            <a:avLst/>
          </a:prstGeom>
          <a:solidFill>
            <a:srgbClr val="1E3A5F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24140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68680" y="2359152"/>
            <a:ext cx="795528" cy="310896"/>
          </a:xfrm>
          <a:prstGeom prst="rect">
            <a:avLst/>
          </a:prstGeom>
          <a:solidFill>
            <a:srgbClr val="1E3A5F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24140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91640" y="2359152"/>
            <a:ext cx="539496" cy="310896"/>
          </a:xfrm>
          <a:prstGeom prst="rect">
            <a:avLst/>
          </a:prstGeom>
          <a:solidFill>
            <a:srgbClr val="1E3A5F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28216" y="241401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258568" y="2359152"/>
            <a:ext cx="667512" cy="310896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95144" y="241401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953512" y="2359152"/>
            <a:ext cx="630936" cy="310896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90088" y="24140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2706624"/>
            <a:ext cx="384048" cy="310896"/>
          </a:xfrm>
          <a:prstGeom prst="rect">
            <a:avLst/>
          </a:prstGeom>
          <a:solidFill>
            <a:srgbClr val="26334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7614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68680" y="2706624"/>
            <a:ext cx="795528" cy="310896"/>
          </a:xfrm>
          <a:prstGeom prst="rect">
            <a:avLst/>
          </a:prstGeom>
          <a:solidFill>
            <a:srgbClr val="26334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" y="2761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Iogurte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91640" y="2706624"/>
            <a:ext cx="539496" cy="310896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28216" y="276148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58568" y="2706624"/>
            <a:ext cx="667512" cy="310896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95144" y="2761488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953512" y="2706624"/>
            <a:ext cx="630936" cy="310896"/>
          </a:xfrm>
          <a:prstGeom prst="rect">
            <a:avLst/>
          </a:prstGeom>
          <a:solidFill>
            <a:srgbClr val="26334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0088" y="27614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2025-12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3054096"/>
            <a:ext cx="384048" cy="310896"/>
          </a:xfrm>
          <a:prstGeom prst="rect">
            <a:avLst/>
          </a:prstGeom>
          <a:solidFill>
            <a:srgbClr val="1E3A5F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" y="310896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004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68680" y="3054096"/>
            <a:ext cx="795528" cy="310896"/>
          </a:xfrm>
          <a:prstGeom prst="rect">
            <a:avLst/>
          </a:prstGeom>
          <a:solidFill>
            <a:srgbClr val="1E3A5F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5256" y="3108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Carregador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691640" y="3054096"/>
            <a:ext cx="539496" cy="310896"/>
          </a:xfrm>
          <a:prstGeom prst="rect">
            <a:avLst/>
          </a:prstGeom>
          <a:solidFill>
            <a:srgbClr val="1E3A5F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28216" y="310896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258568" y="3054096"/>
            <a:ext cx="667512" cy="310896"/>
          </a:xfrm>
          <a:prstGeom prst="rect">
            <a:avLst/>
          </a:prstGeom>
          <a:solidFill>
            <a:srgbClr val="1E3A5F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95144" y="310896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110V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953512" y="3054096"/>
            <a:ext cx="630936" cy="310896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90088" y="31089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3438144"/>
            <a:ext cx="3931920" cy="384048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3502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NULLs ocupam espaço mesmo sem dado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54880" y="12618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Cassandra (colunar)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754880" y="1664208"/>
            <a:ext cx="148132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91456" y="17099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  Notebook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309360" y="1664208"/>
            <a:ext cx="1042416" cy="310896"/>
          </a:xfrm>
          <a:prstGeom prst="roundRect">
            <a:avLst>
              <a:gd name="adj" fmla="val 17647"/>
            </a:avLst>
          </a:prstGeom>
          <a:solidFill>
            <a:srgbClr val="1E3A5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64224" y="168249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754880" y="2432304"/>
            <a:ext cx="148132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91456" y="24780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  Fone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309360" y="2432304"/>
            <a:ext cx="1042416" cy="310896"/>
          </a:xfrm>
          <a:prstGeom prst="roundRect">
            <a:avLst>
              <a:gd name="adj" fmla="val 17647"/>
            </a:avLst>
          </a:prstGeom>
          <a:solidFill>
            <a:srgbClr val="1E3A5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64224" y="245059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754880" y="3200400"/>
            <a:ext cx="148132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91456" y="32461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  Iogurte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309360" y="3200400"/>
            <a:ext cx="1042416" cy="310896"/>
          </a:xfrm>
          <a:prstGeom prst="roundRect">
            <a:avLst>
              <a:gd name="adj" fmla="val 17647"/>
            </a:avLst>
          </a:prstGeom>
          <a:solidFill>
            <a:srgbClr val="1E3A5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64224" y="32186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2025-12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754880" y="3968496"/>
            <a:ext cx="148132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91456" y="40142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004  Carregador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309360" y="3968496"/>
            <a:ext cx="1042416" cy="310896"/>
          </a:xfrm>
          <a:prstGeom prst="roundRect">
            <a:avLst>
              <a:gd name="adj" fmla="val 17647"/>
            </a:avLst>
          </a:prstGeom>
          <a:solidFill>
            <a:srgbClr val="1E3A5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64224" y="398678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7424928" y="3968496"/>
            <a:ext cx="1042416" cy="310896"/>
          </a:xfrm>
          <a:prstGeom prst="roundRect">
            <a:avLst>
              <a:gd name="adj" fmla="val 17647"/>
            </a:avLst>
          </a:prstGeom>
          <a:solidFill>
            <a:srgbClr val="1E3A5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79792" y="398678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110V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754880" y="3438144"/>
            <a:ext cx="393192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92040" y="3502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Só guarda o que existe — sem espaço desperdiçado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62032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de partição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40080" y="4297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em qual servidor o dado fica guardado.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o endereço da linha dentro do banco.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480560" y="4023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4480560" y="4297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existem se tiverem valor.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pode ter combinações diferentes.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Tipo: Banco Colunar (Wide-Column)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Como funciona?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em planilhas onde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pode 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diferentes.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produto tem cor e peso.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produto tem voltagem.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guarda só o que precisa.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07792"/>
            <a:ext cx="923544" cy="329184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9443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2907792"/>
            <a:ext cx="923544" cy="329184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36776" y="29443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2907792"/>
            <a:ext cx="786384" cy="329184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29443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2907792"/>
            <a:ext cx="786384" cy="329184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29443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273552"/>
            <a:ext cx="923544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3284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produto_id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00200" y="3273552"/>
            <a:ext cx="923544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36776" y="33284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3273552"/>
            <a:ext cx="786384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96896" y="33284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3273552"/>
            <a:ext cx="786384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33284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923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7124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ABC-001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00200" y="3657600"/>
            <a:ext cx="923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6776" y="37124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0" y="3657600"/>
            <a:ext cx="78638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96896" y="37124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3657600"/>
            <a:ext cx="78638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9856" y="37124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041648"/>
            <a:ext cx="923544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096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ABC-002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00200" y="4041648"/>
            <a:ext cx="923544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36776" y="4096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0" y="4041648"/>
            <a:ext cx="786384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96896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83280" y="4041648"/>
            <a:ext cx="786384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9856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" y="4389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em branco (—)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ocupam espaço!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1005840"/>
            <a:ext cx="40690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0060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🆚  SQL vs Cassandra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00600" y="1627632"/>
            <a:ext cx="1719072" cy="475488"/>
          </a:xfrm>
          <a:prstGeom prst="rect">
            <a:avLst/>
          </a:prstGeom>
          <a:solidFill>
            <a:srgbClr val="2563E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1627632"/>
            <a:ext cx="1938528" cy="475488"/>
          </a:xfrm>
          <a:prstGeom prst="rect">
            <a:avLst/>
          </a:prstGeom>
          <a:solidFill>
            <a:srgbClr val="F9731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17190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37960" y="171907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2194560"/>
            <a:ext cx="1719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2194560"/>
            <a:ext cx="19385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228600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fixas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37960" y="228600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flexíveis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00600" y="2761488"/>
            <a:ext cx="1719072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37960" y="2761488"/>
            <a:ext cx="193852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85292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livres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537960" y="285292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JOINs nativos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00600" y="3328416"/>
            <a:ext cx="1719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37960" y="3328416"/>
            <a:ext cx="19385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34198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servidor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37960" y="341985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servidores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00600" y="3895344"/>
            <a:ext cx="1719072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37960" y="3895344"/>
            <a:ext cx="193852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398678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rígido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37960" y="398678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por linha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Teorema CAP — onde o Cassandra se encaixa?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banco distribído precisa escolher 2 dos 3: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2011680" cy="201168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5786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veem o mesmo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ao mesmo tempo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66160" y="1417320"/>
            <a:ext cx="2011680" cy="201168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508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0" y="25786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responde,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falhas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011680" cy="201168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508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Falhas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25786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mesmo 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servidor cair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584448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758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Cassandra escolhe  A + 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07822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significa: o banco está SEMPRE disponível e continua funcionando mesmo se um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cair. Em troca, pode demorar um instante para todos os servidores verem o dado novo.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o Cassandra?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que usam hoje: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353312" cy="347472"/>
          </a:xfrm>
          <a:prstGeom prst="roundRect">
            <a:avLst>
              <a:gd name="adj" fmla="val 2105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3502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38528" y="1280160"/>
            <a:ext cx="1353312" cy="347472"/>
          </a:xfrm>
          <a:prstGeom prst="roundRect">
            <a:avLst>
              <a:gd name="adj" fmla="val 2105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38528" y="133502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19856" y="1280160"/>
            <a:ext cx="1353312" cy="347472"/>
          </a:xfrm>
          <a:prstGeom prst="roundRect">
            <a:avLst>
              <a:gd name="adj" fmla="val 2105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9856" y="133502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1353312" cy="347472"/>
          </a:xfrm>
          <a:prstGeom prst="roundRect">
            <a:avLst>
              <a:gd name="adj" fmla="val 2105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7393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38528" y="1719072"/>
            <a:ext cx="1353312" cy="347472"/>
          </a:xfrm>
          <a:prstGeom prst="roundRect">
            <a:avLst>
              <a:gd name="adj" fmla="val 2105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177393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19856" y="1719072"/>
            <a:ext cx="1353312" cy="347472"/>
          </a:xfrm>
          <a:prstGeom prst="roundRect">
            <a:avLst>
              <a:gd name="adj" fmla="val 2105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177393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39319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4505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Bom para...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852928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usuários ao mesmo tempo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crescem muito rápido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que não pode sair do 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eventos / logs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331720"/>
            <a:ext cx="39776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4505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Cuidado com...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852928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complexos com JOINs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bancárias (ACID)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pequena sem suporte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mudam pouco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Nosso Projeto: EstoqueDB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de estoque rodando sobre Apache Cassandra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de dados do projeto: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965960" cy="1389888"/>
          </a:xfrm>
          <a:prstGeom prst="roundRect">
            <a:avLst>
              <a:gd name="adj" fmla="val 7895"/>
            </a:avLst>
          </a:prstGeom>
          <a:solidFill>
            <a:srgbClr val="1E3A5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4708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CQL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797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criadas no Cassandra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33472" y="1755648"/>
            <a:ext cx="1965960" cy="1389888"/>
          </a:xfrm>
          <a:prstGeom prst="roundRect">
            <a:avLst>
              <a:gd name="adj" fmla="val 7895"/>
            </a:avLst>
          </a:prstGeom>
          <a:solidFill>
            <a:srgbClr val="1E3A5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184708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33472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Keyspace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33472" y="27797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  estoque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9744" y="1755648"/>
            <a:ext cx="1965960" cy="1389888"/>
          </a:xfrm>
          <a:prstGeom prst="roundRect">
            <a:avLst>
              <a:gd name="adj" fmla="val 7895"/>
            </a:avLst>
          </a:prstGeom>
          <a:solidFill>
            <a:srgbClr val="1E3A5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84708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09744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Factor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9744" y="27797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nó (ambiente local)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86016" y="1755648"/>
            <a:ext cx="1965960" cy="1389888"/>
          </a:xfrm>
          <a:prstGeom prst="roundRect">
            <a:avLst>
              <a:gd name="adj" fmla="val 7895"/>
            </a:avLst>
          </a:prstGeom>
          <a:solidFill>
            <a:srgbClr val="1E3A5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86016" y="184708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86016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86016" y="27797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rodando no Cassandra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310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tabelas que criamos: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2697480" cy="402336"/>
          </a:xfrm>
          <a:prstGeom prst="roundRect">
            <a:avLst>
              <a:gd name="adj" fmla="val 18182"/>
            </a:avLst>
          </a:prstGeom>
          <a:solidFill>
            <a:srgbClr val="162032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7490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3675888"/>
            <a:ext cx="2697480" cy="402336"/>
          </a:xfrm>
          <a:prstGeom prst="roundRect">
            <a:avLst>
              <a:gd name="adj" fmla="val 18182"/>
            </a:avLst>
          </a:prstGeom>
          <a:solidFill>
            <a:srgbClr val="162032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37490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fornecedores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675888"/>
            <a:ext cx="2697480" cy="402336"/>
          </a:xfrm>
          <a:prstGeom prst="roundRect">
            <a:avLst>
              <a:gd name="adj" fmla="val 18182"/>
            </a:avLst>
          </a:prstGeom>
          <a:solidFill>
            <a:srgbClr val="162032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37490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69664"/>
            <a:ext cx="2697480" cy="402336"/>
          </a:xfrm>
          <a:prstGeom prst="roundRect">
            <a:avLst>
              <a:gd name="adj" fmla="val 18182"/>
            </a:avLst>
          </a:prstGeom>
          <a:solidFill>
            <a:srgbClr val="162032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42428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estoque_por_armazem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4169664"/>
            <a:ext cx="2697480" cy="402336"/>
          </a:xfrm>
          <a:prstGeom prst="roundRect">
            <a:avLst>
              <a:gd name="adj" fmla="val 18182"/>
            </a:avLst>
          </a:prstGeom>
          <a:solidFill>
            <a:srgbClr val="162032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5576" y="42428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estoque_por_produto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169664"/>
            <a:ext cx="2697480" cy="402336"/>
          </a:xfrm>
          <a:prstGeom prst="roundRect">
            <a:avLst>
              <a:gd name="adj" fmla="val 18182"/>
            </a:avLst>
          </a:prstGeom>
          <a:solidFill>
            <a:srgbClr val="162032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42428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movimentacoes_por_produto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rodar o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14300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5214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o projeto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408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a pasta do projeto no computador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23360" y="1124712"/>
            <a:ext cx="4480560" cy="457200"/>
          </a:xfrm>
          <a:prstGeom prst="roundRect">
            <a:avLst>
              <a:gd name="adj" fmla="val 14000"/>
            </a:avLst>
          </a:prstGeom>
          <a:solidFill>
            <a:srgbClr val="1A2B3C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/ descompactar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93852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4767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1892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o Docker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2037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o Cassandra e a aplicação juntos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1920240"/>
            <a:ext cx="4480560" cy="457200"/>
          </a:xfrm>
          <a:prstGeom prst="roundRect">
            <a:avLst>
              <a:gd name="adj" fmla="val 14000"/>
            </a:avLst>
          </a:prstGeom>
          <a:solidFill>
            <a:srgbClr val="1A2B3C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965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2734056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74320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2688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banco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2999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as tabelas no Cassandra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23360" y="2715768"/>
            <a:ext cx="4480560" cy="457200"/>
          </a:xfrm>
          <a:prstGeom prst="roundRect">
            <a:avLst>
              <a:gd name="adj" fmla="val 14000"/>
            </a:avLst>
          </a:prstGeom>
          <a:solidFill>
            <a:srgbClr val="1A2B3C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7614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cqlsh &lt; scripts/schema.cql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92424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352958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53872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5568" y="3483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dados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3794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dados de exemplo no banco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23360" y="3511296"/>
            <a:ext cx="4480560" cy="457200"/>
          </a:xfrm>
          <a:prstGeom prst="roundRect">
            <a:avLst>
              <a:gd name="adj" fmla="val 14000"/>
            </a:avLst>
          </a:prstGeom>
          <a:solidFill>
            <a:srgbClr val="1A2B3C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35570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cqlsh &lt; scripts/seed.cql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187952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" y="432511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33425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15568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no browser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15568" y="4590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a aplicação rodando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023360" y="4306824"/>
            <a:ext cx="4480560" cy="457200"/>
          </a:xfrm>
          <a:prstGeom prst="roundRect">
            <a:avLst>
              <a:gd name="adj" fmla="val 14000"/>
            </a:avLst>
          </a:prstGeom>
          <a:solidFill>
            <a:srgbClr val="1A2B3C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43525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http://localhost:5001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914400"/>
            <a:ext cx="4114800" cy="41148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mostrar agora: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6217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rodando — Cassandra + Aplicação conectados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Criar, editar e excluir um produto (CRUD)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Consulta 1: Agrupamento por categoria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Consulta 2: Expansão dos atributos do produto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462272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5262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Cassandra: NoSQL Colunar · AP (CAP) · 6 tabelas · CRUD completo · Sem ponto único de falha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2026-06-17T02:05:30Z</dcterms:created>
  <dcterms:modified xsi:type="dcterms:W3CDTF">2026-06-17T02:05:30Z</dcterms:modified>
</cp:coreProperties>
</file>